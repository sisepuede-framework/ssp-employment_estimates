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Calibri"/>
              </a:defRPr>
            </a:pPr>
            <a:r>
              <a:t>MINDSET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A0CFED"/>
                </a:solidFill>
                <a:latin typeface="Calibri"/>
              </a:defRPr>
            </a:pPr>
            <a:r>
              <a:t>Capability Assessment for Bolivia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0BBDD"/>
                </a:solidFill>
                <a:latin typeface="Calibri"/>
              </a:defRPr>
            </a:pPr>
            <a:r>
              <a:t>ENSO Climate Shocks &amp; Energy Sector Vulnerabilities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754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3A5C"/>
                </a:solidFill>
                <a:latin typeface="Calibri"/>
              </a:defRPr>
            </a:pPr>
            <a:r>
              <a:t>Two questions from the research team: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5212080"/>
            <a:ext cx="9601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Can MINDSET help assess ENSO-related droughts and floods — their macroeconomic and distributional impacts?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Can MINDSET help analyze declining gas reserves and hydropower uncertainty — energy shocks and low-carbon pathways?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Bottom 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59595"/>
                </a:solidFill>
                <a:latin typeface="Calibri"/>
              </a:defRPr>
            </a:pPr>
            <a:r>
              <a:t>MINDSET Assessment for Bolivia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5303520" cy="475488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3A5C"/>
                </a:solidFill>
                <a:latin typeface="Calibri"/>
              </a:defRPr>
            </a:pPr>
            <a:r>
              <a:t>Task #1: ENSO / Floods / Droughts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103120"/>
            <a:ext cx="3200400" cy="4114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2140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  WELL SUITED  —  Moderate-High Confidence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43200"/>
            <a:ext cx="4754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333333"/>
                </a:solidFill>
                <a:latin typeface="Calibri"/>
              </a:rPr>
              <a:t>• Floods and droughts are explicitly cited as motivating use cases in MINDSET documentation (Capital damages module).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333333"/>
                </a:solidFill>
                <a:latin typeface="Calibri"/>
              </a:rPr>
              <a:t>• Supply constraint channel propagates sector-level damage through the full IO system — GDP, employment, prices, household welfare.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333333"/>
                </a:solidFill>
                <a:latin typeface="Calibri"/>
              </a:rPr>
              <a:t>• Employment by skill (low/high) and gender (female/male); household consumption by income group.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333333"/>
                </a:solidFill>
                <a:latin typeface="Calibri"/>
              </a:rPr>
              <a:t>• Bolivia is directly represented in the GLORIA MRIO database (164 countries, 120 sectors, base year 2019).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333333"/>
                </a:solidFill>
                <a:latin typeface="Calibri"/>
              </a:rPr>
              <a:t>• Key requirement: users must provide sector-level damage estimates. MINDSET models the economic propagation, not the physical hazard.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371600"/>
            <a:ext cx="5303520" cy="4754880"/>
          </a:xfrm>
          <a:prstGeom prst="rect">
            <a:avLst/>
          </a:prstGeom>
          <a:solidFill>
            <a:srgbClr val="FD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5544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3A5C"/>
                </a:solidFill>
                <a:latin typeface="Calibri"/>
              </a:defRPr>
            </a:pPr>
            <a:r>
              <a:t>Task #2: Gas Decline &amp; Hydropower Uncertainty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92240" y="2103120"/>
            <a:ext cx="3200400" cy="4114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12140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  PARTIAL FIT  —  Moderate-Low Confidence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743200"/>
            <a:ext cx="4754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333333"/>
                </a:solidFill>
                <a:latin typeface="Calibri"/>
              </a:rPr>
              <a:t>• Can model supply constraints on gas extraction (sector 27) and electricity (sector 63), plus interfuel substitution via price elasticities.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333333"/>
                </a:solidFill>
                <a:latin typeface="Calibri"/>
              </a:rPr>
              <a:t>• Useful for macro impact of externally defined energy shocks (GDP, employment, supply chain effects, household welfare).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333333"/>
                </a:solidFill>
                <a:latin typeface="Calibri"/>
              </a:rPr>
              <a:t>• Cannot model resource depletion trajectories, hydropower variability, energy system optimization, or long-run low-carbon investment pathways.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333333"/>
                </a:solidFill>
                <a:latin typeface="Calibri"/>
              </a:rPr>
              <a:t>• Best role: complementary macro/distributional analysis alongside a dedicated energy system model (TIMES, OSeMOSYS).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333333"/>
                </a:solidFill>
                <a:latin typeface="Calibri"/>
              </a:rPr>
              <a:t>• Electricity sector is a single aggregate — no hydro vs. thermal vs. solar distinction.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What is MINDSET?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59595"/>
                </a:solidFill>
                <a:latin typeface="Calibri"/>
              </a:defRPr>
            </a:pPr>
            <a:r>
              <a:t>MINDSET Assessment for Bolivia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A Multi-Regional Input-Output (MRIO) model built on the GLORIA database. It traces how a shock in one sector or country propagates through global supply chains to affect output, employment, prices, and household welfare across all sectors and trading partners.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103120"/>
            <a:ext cx="3566160" cy="384048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945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3A5C"/>
                </a:solidFill>
                <a:latin typeface="Calibri"/>
              </a:defRPr>
            </a:pPr>
            <a:r>
              <a:t>Core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51760"/>
            <a:ext cx="32004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00">
                <a:solidFill>
                  <a:srgbClr val="333333"/>
                </a:solidFill>
                <a:latin typeface="Calibri"/>
              </a:rPr>
              <a:t>• Demand-side: Leontief inverse L = (I−A)⁻¹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333333"/>
                </a:solidFill>
                <a:latin typeface="Calibri"/>
              </a:rPr>
              <a:t>• Supply-side: Ghosh inverse G = (I−B)⁻¹ with criticality weighting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333333"/>
                </a:solidFill>
                <a:latin typeface="Calibri"/>
              </a:rPr>
              <a:t>• Not a CGE — allows quantity rationing, no market clearing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333333"/>
                </a:solidFill>
                <a:latin typeface="Calibri"/>
              </a:rPr>
              <a:t>• Iterative convergence loop on household income and tax revenue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333333"/>
                </a:solidFill>
                <a:latin typeface="Calibri"/>
              </a:rPr>
              <a:t>• Short-to-medium-term shock assessment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19" y="2103120"/>
            <a:ext cx="3566160" cy="3840480"/>
          </a:xfrm>
          <a:prstGeom prst="rect">
            <a:avLst/>
          </a:prstGeom>
          <a:solidFill>
            <a:srgbClr val="E8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1999" y="21945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3A5C"/>
                </a:solidFill>
                <a:latin typeface="Calibri"/>
              </a:defRPr>
            </a:pPr>
            <a:r>
              <a:t>Data Coverage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1999" y="2651760"/>
            <a:ext cx="32004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00">
                <a:solidFill>
                  <a:srgbClr val="333333"/>
                </a:solidFill>
                <a:latin typeface="Calibri"/>
              </a:rPr>
              <a:t>• 164 countries (GLORIA v57, base year 2019)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333333"/>
                </a:solidFill>
                <a:latin typeface="Calibri"/>
              </a:rPr>
              <a:t>• 120 production sectors (agriculture through services)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333333"/>
                </a:solidFill>
                <a:latin typeface="Calibri"/>
              </a:rPr>
              <a:t>• Full bilateral trade flows between all countries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333333"/>
                </a:solidFill>
                <a:latin typeface="Calibri"/>
              </a:rPr>
              <a:t>• Employment data by skill level and gender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333333"/>
                </a:solidFill>
                <a:latin typeface="Calibri"/>
              </a:rPr>
              <a:t>• Household elasticities by income group (USDA)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58" y="2103120"/>
            <a:ext cx="3566160" cy="3840480"/>
          </a:xfrm>
          <a:prstGeom prst="rect">
            <a:avLst/>
          </a:prstGeom>
          <a:solidFill>
            <a:srgbClr val="FD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38" y="21945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3A5C"/>
                </a:solidFill>
                <a:latin typeface="Calibri"/>
              </a:defRPr>
            </a:pPr>
            <a:r>
              <a:t>Disaster-Relevant Channels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38" y="2651760"/>
            <a:ext cx="32004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00">
                <a:solidFill>
                  <a:srgbClr val="333333"/>
                </a:solidFill>
                <a:latin typeface="Calibri"/>
              </a:rPr>
              <a:t>• Supply constraints (the primary disaster shock input)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333333"/>
                </a:solidFill>
                <a:latin typeface="Calibri"/>
              </a:rPr>
              <a:t>• Exogenous investment (reconstruction spending)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333333"/>
                </a:solidFill>
                <a:latin typeface="Calibri"/>
              </a:rPr>
              <a:t>• Exogenous final demand (post-disaster demand changes)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333333"/>
                </a:solidFill>
                <a:latin typeface="Calibri"/>
              </a:rPr>
              <a:t>• Price changes (scarcity-driven price spikes)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333333"/>
                </a:solidFill>
                <a:latin typeface="Calibri"/>
              </a:rPr>
              <a:t>• Technology substitution (interfuel switching)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2636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59595"/>
                </a:solidFill>
                <a:latin typeface="Calibri"/>
              </a:defRPr>
            </a:pPr>
            <a:r>
              <a:t>Sources: README.md; Documentation/Capital damages.md; Documentation/Supply constraint.md; SourceCode/InputOutput.py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Estimating Drought/Flood Impacts: Step-by-Step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59595"/>
                </a:solidFill>
                <a:latin typeface="Calibri"/>
              </a:defRPr>
            </a:pPr>
            <a:r>
              <a:t>MINDSET Assessment for Bolivia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2011680" cy="4572000"/>
          </a:xfrm>
          <a:prstGeom prst="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011680" cy="5029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89888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USER</a:t>
            </a:r>
            <a:br/>
            <a:r>
              <a:t>PROVIDES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96596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59595"/>
                </a:solidFill>
                <a:latin typeface="Calibri"/>
              </a:defRPr>
            </a:pPr>
            <a:r>
              <a:t>Step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24028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3A5C"/>
                </a:solidFill>
                <a:latin typeface="Calibri"/>
              </a:defRPr>
            </a:pPr>
            <a:r>
              <a:t>Characterize the</a:t>
            </a:r>
            <a:br/>
            <a:r>
              <a:t>Physical Hazard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108960"/>
            <a:ext cx="17373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Identify which sectors</a:t>
            </a:r>
            <a:br/>
            <a:r>
              <a:t>and regions are affected</a:t>
            </a:r>
            <a:br/>
            <a:r>
              <a:t>by the flood/drought.</a:t>
            </a:r>
            <a:br/>
            <a:r>
              <a:t>Quantify capital destruction</a:t>
            </a:r>
            <a:br/>
            <a:r>
              <a:t>or output loss (%).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78024" y="32004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4A90D9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34640" y="1371600"/>
            <a:ext cx="2011680" cy="4572000"/>
          </a:xfrm>
          <a:prstGeom prst="rect">
            <a:avLst/>
          </a:prstGeom>
          <a:solidFill>
            <a:srgbClr val="FD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834640" y="1371600"/>
            <a:ext cx="2011680" cy="5029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34640" y="1389888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USER</a:t>
            </a:r>
            <a:br/>
            <a:r>
              <a:t>PROVIDES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71800" y="196596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59595"/>
                </a:solidFill>
                <a:latin typeface="Calibri"/>
              </a:defRPr>
            </a:pPr>
            <a:r>
              <a:t>Step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71800" y="224028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3A5C"/>
                </a:solidFill>
                <a:latin typeface="Calibri"/>
              </a:defRPr>
            </a:pPr>
            <a:r>
              <a:t>Translate Damage</a:t>
            </a:r>
            <a:br/>
            <a:r>
              <a:t>to Supply Constraints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71800" y="3108960"/>
            <a:ext cx="17373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Map physical damage to</a:t>
            </a:r>
            <a:br/>
            <a:r>
              <a:t>GLORIA sector codes (1–120).</a:t>
            </a:r>
            <a:br/>
            <a:r>
              <a:t>Express as % output reduction.</a:t>
            </a:r>
            <a:br/>
            <a:r>
              <a:t>Hallegatte (2014): ΔY ≈ ΔK.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55464" y="32004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4A90D9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212080" y="1371600"/>
            <a:ext cx="2011680" cy="45720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212080" y="1371600"/>
            <a:ext cx="2011680" cy="5029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12080" y="1389888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USER</a:t>
            </a:r>
            <a:br/>
            <a:r>
              <a:t>PROVIDES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49240" y="196596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59595"/>
                </a:solidFill>
                <a:latin typeface="Calibri"/>
              </a:defRPr>
            </a:pPr>
            <a:r>
              <a:t>Step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49240" y="224028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3A5C"/>
                </a:solidFill>
                <a:latin typeface="Calibri"/>
              </a:defRPr>
            </a:pPr>
            <a:r>
              <a:t>Build Scenario</a:t>
            </a:r>
            <a:br/>
            <a:r>
              <a:t>Excel Workbook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49240" y="3108960"/>
            <a:ext cx="17373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Fill the "Supply constraint"</a:t>
            </a:r>
            <a:br/>
            <a:r>
              <a:t>sheet with: Country ISO,</a:t>
            </a:r>
            <a:br/>
            <a:r>
              <a:t>Product code, Value, Type.</a:t>
            </a:r>
            <a:br/>
            <a:r>
              <a:t>Optional: Final demand,</a:t>
            </a:r>
            <a:br/>
            <a:r>
              <a:t>Investment sheets.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32004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4A90D9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589520" y="1371600"/>
            <a:ext cx="2011680" cy="4572000"/>
          </a:xfrm>
          <a:prstGeom prst="rect">
            <a:avLst/>
          </a:prstGeom>
          <a:solidFill>
            <a:srgbClr val="E8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589520" y="1371600"/>
            <a:ext cx="2011680" cy="5029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89520" y="1389888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MODEL</a:t>
            </a:r>
            <a:br/>
            <a:r>
              <a:t>RUNS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26680" y="196596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59595"/>
                </a:solidFill>
                <a:latin typeface="Calibri"/>
              </a:defRPr>
            </a:pPr>
            <a:r>
              <a:t>Step 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26680" y="224028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3A5C"/>
                </a:solidFill>
                <a:latin typeface="Calibri"/>
              </a:defRPr>
            </a:pPr>
            <a:r>
              <a:t>Run MINDSET</a:t>
            </a:r>
            <a:br/>
            <a:r>
              <a:t>(RunMINDSET.py)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26680" y="3108960"/>
            <a:ext cx="17373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Model builds L and G</a:t>
            </a:r>
            <a:br/>
            <a:r>
              <a:t>inverses, propagates</a:t>
            </a:r>
            <a:br/>
            <a:r>
              <a:t>shocks through supply</a:t>
            </a:r>
            <a:br/>
            <a:r>
              <a:t>chains, iterates until</a:t>
            </a:r>
            <a:br/>
            <a:r>
              <a:t>convergence.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10344" y="32004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4A90D9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966960" y="1371600"/>
            <a:ext cx="2011680" cy="457200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966960" y="1371600"/>
            <a:ext cx="2011680" cy="502920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966960" y="1389888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MODEL</a:t>
            </a:r>
            <a:br/>
            <a:r>
              <a:t>OUTPUTS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04120" y="196596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59595"/>
                </a:solidFill>
                <a:latin typeface="Calibri"/>
              </a:defRPr>
            </a:pPr>
            <a:r>
              <a:t>Step 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104120" y="224028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3A5C"/>
                </a:solidFill>
                <a:latin typeface="Calibri"/>
              </a:defRPr>
            </a:pPr>
            <a:r>
              <a:t>Analyze Results</a:t>
            </a:r>
            <a:br/>
            <a:r>
              <a:t>(8-sheet workbook)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04120" y="3108960"/>
            <a:ext cx="17373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Output, employment, GDP,</a:t>
            </a:r>
            <a:br/>
            <a:r>
              <a:t>demand, household welfare,</a:t>
            </a:r>
            <a:br/>
            <a:r>
              <a:t>prices, tax revenue,</a:t>
            </a:r>
            <a:br/>
            <a:r>
              <a:t>emissions — all by sector</a:t>
            </a:r>
            <a:br/>
            <a:r>
              <a:t>and impact channel.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62636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59595"/>
                </a:solidFill>
                <a:latin typeface="Calibri"/>
              </a:defRPr>
            </a:pPr>
            <a:r>
              <a:t>Sources: Documentation/Capital damages.md; Documentation/Supply constraint.md; RunMINDSET.py; SourceCode/scenario.py; SourceCode/InputOutput.py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What Users Must Provide: The Scenario Excel Workbook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59595"/>
                </a:solidFill>
                <a:latin typeface="Calibri"/>
              </a:defRPr>
            </a:pPr>
            <a:r>
              <a:t>MINDSET Assessment for Bolivia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88720"/>
            <a:ext cx="6858000" cy="50292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2801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3A5C"/>
                </a:solidFill>
                <a:latin typeface="Calibri"/>
              </a:defRPr>
            </a:pPr>
            <a:r>
              <a:t>Primary input: "Supply constraint" sheet  (required for flood/drought)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Data starts at row 15 (14 header rows are skipped). Four columns: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94560"/>
            <a:ext cx="1463040" cy="3200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2221992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Column Name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77440" y="2194560"/>
            <a:ext cx="2560320" cy="3200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50592" y="2221992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Description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37760" y="2194560"/>
            <a:ext cx="2377440" cy="3200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10912" y="2221992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Example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2514600"/>
            <a:ext cx="1463040" cy="3200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" y="2542032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B3A5C"/>
                </a:solidFill>
                <a:latin typeface="Consolas"/>
              </a:defRPr>
            </a:pPr>
            <a:r>
              <a:t>Country ISO*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77440" y="2514600"/>
            <a:ext cx="2560320" cy="3200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50592" y="2542032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Country ISO3 code (or "ALL")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37760" y="2514600"/>
            <a:ext cx="2377440" cy="3200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10912" y="2542032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BOL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2834640"/>
            <a:ext cx="146304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7552" y="2862072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B3A5C"/>
                </a:solidFill>
                <a:latin typeface="Consolas"/>
              </a:defRPr>
            </a:pPr>
            <a:r>
              <a:t>Product code*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77440" y="2834640"/>
            <a:ext cx="256032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450592" y="2862072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GLORIA sector 1–120, range, or list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937760" y="2834640"/>
            <a:ext cx="237744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10912" y="2862072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1-10  or  5,10,15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0" y="3154680"/>
            <a:ext cx="1463040" cy="3200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7552" y="3182112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B3A5C"/>
                </a:solidFill>
                <a:latin typeface="Consolas"/>
              </a:defRPr>
            </a:pPr>
            <a:r>
              <a:t>Value*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377440" y="3154680"/>
            <a:ext cx="2560320" cy="3200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450592" y="3182112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Output reduction as negative decimal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937760" y="3154680"/>
            <a:ext cx="2377440" cy="3200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10912" y="3182112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-0.30  (= 30% loss)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4400" y="3474720"/>
            <a:ext cx="146304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87552" y="3502152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B3A5C"/>
                </a:solidFill>
                <a:latin typeface="Consolas"/>
              </a:defRPr>
            </a:pPr>
            <a:r>
              <a:t>Type*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377440" y="3474720"/>
            <a:ext cx="256032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450592" y="3502152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Currently only "rel" (relative)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937760" y="3474720"/>
            <a:ext cx="237744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10912" y="3502152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rel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39319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3A5C"/>
                </a:solidFill>
                <a:latin typeface="Calibri"/>
              </a:defRPr>
            </a:pPr>
            <a:r>
              <a:t>Example: modeling a severe drought in Bolivia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343400"/>
            <a:ext cx="6400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onsolas"/>
              </a:defRPr>
            </a:pPr>
            <a:r>
              <a:t>Country ISO*    Product code*    Value*    Type*</a:t>
            </a:r>
            <a:br/>
            <a:r>
              <a:t>BOL             1-10             -0.35     rel        ← 35% loss in agriculture (sectors 1–10)</a:t>
            </a:r>
            <a:br/>
            <a:r>
              <a:t>BOL             11-23            -0.15     rel        ← 15% loss in remaining agriculture</a:t>
            </a:r>
            <a:br/>
            <a:r>
              <a:t>BOL             63               -0.10     rel        ← 10% loss in electricity (hydropower)</a:t>
            </a:r>
            <a:br/>
            <a:r>
              <a:t>BOL             93-96            -0.05     rel        ← 5% loss in water/utilities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72400" y="1188720"/>
            <a:ext cx="3749039" cy="5029200"/>
          </a:xfrm>
          <a:prstGeom prst="rect">
            <a:avLst/>
          </a:prstGeom>
          <a:solidFill>
            <a:srgbClr val="E8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955279" y="12801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3A5C"/>
                </a:solidFill>
                <a:latin typeface="Calibri"/>
              </a:defRPr>
            </a:pPr>
            <a:r>
              <a:t>Optional sheets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955279" y="1737360"/>
            <a:ext cx="33832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1">
                <a:solidFill>
                  <a:srgbClr val="333333"/>
                </a:solidFill>
                <a:latin typeface="Calibri"/>
              </a:rPr>
              <a:t>• Final demand: </a:t>
            </a:r>
            <a:r>
              <a:rPr sz="1000" b="0">
                <a:solidFill>
                  <a:srgbClr val="333333"/>
                </a:solidFill>
                <a:latin typeface="Calibri"/>
              </a:rPr>
              <a:t>reduce household or government consumption post-disaster. Columns: Producing/Consuming country, Product code, FD code (FD_1=HH, FD_3=Gov, FD_4=GFCF), Value, Type.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333333"/>
                </a:solidFill>
                <a:latin typeface="Calibri"/>
              </a:rPr>
              <a:t>• Investment by: </a:t>
            </a:r>
            <a:r>
              <a:rPr sz="1000" b="0">
                <a:solidFill>
                  <a:srgbClr val="333333"/>
                </a:solidFill>
                <a:latin typeface="Calibri"/>
              </a:rPr>
              <a:t>reconstruction or recovery investment by sector. Columns: Country ISO, Sector investing code, Value (abs-b), Type.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333333"/>
                </a:solidFill>
                <a:latin typeface="Calibri"/>
              </a:rPr>
              <a:t>• Price change: </a:t>
            </a:r>
            <a:r>
              <a:rPr sz="1000" b="0">
                <a:solidFill>
                  <a:srgbClr val="333333"/>
                </a:solidFill>
                <a:latin typeface="Calibri"/>
              </a:rPr>
              <a:t>non-tax cost shocks (scarcity). Columns: Origin/Target country, Origin/Target sector, Value, Type (rel or tax-abs).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333333"/>
                </a:solidFill>
                <a:latin typeface="Calibri"/>
              </a:rPr>
              <a:t>• IO coefficients: </a:t>
            </a:r>
            <a:r>
              <a:rPr sz="1000" b="0">
                <a:solidFill>
                  <a:srgbClr val="333333"/>
                </a:solidFill>
                <a:latin typeface="Calibri"/>
              </a:rPr>
              <a:t>alter production recipes. Columns: Origin/Target country, Origin/Target sector, Value, Type (replace).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333333"/>
                </a:solidFill>
                <a:latin typeface="Calibri"/>
              </a:rPr>
              <a:t>• Carbon tax: </a:t>
            </a:r>
            <a:r>
              <a:rPr sz="1000" b="0">
                <a:solidFill>
                  <a:srgbClr val="333333"/>
                </a:solidFill>
                <a:latin typeface="Calibri"/>
              </a:rPr>
              <a:t>not needed for ENSO analysis.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333333"/>
                </a:solidFill>
                <a:latin typeface="Calibri"/>
              </a:rPr>
              <a:t>• CBAM: </a:t>
            </a:r>
            <a:r>
              <a:rPr sz="1000" b="0">
                <a:solidFill>
                  <a:srgbClr val="333333"/>
                </a:solidFill>
                <a:latin typeface="Calibri"/>
              </a:rPr>
              <a:t>not needed for ENSO analysis.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" y="62636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59595"/>
                </a:solidFill>
                <a:latin typeface="Calibri"/>
              </a:defRPr>
            </a:pPr>
            <a:r>
              <a:t>Sources: SourceCode/scenario.py (lines 556–577: set_supply_constraint; lines 209–313: set_exog_fd; lines 321–383: set_exog_inv)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From Physical Damage to Supply Constraint: The Translation 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59595"/>
                </a:solidFill>
                <a:latin typeface="Calibri"/>
              </a:defRPr>
            </a:pPr>
            <a:r>
              <a:t>MINDSET Assessment for Bolivia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88720"/>
            <a:ext cx="5486400" cy="292608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3A5C"/>
                </a:solidFill>
                <a:latin typeface="Calibri"/>
              </a:defRPr>
            </a:pPr>
            <a:r>
              <a:t>Hallegatte (2014a): Capital Damage → Output Loss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5029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The theoretical relationship (modified Cobb-Douglas):</a:t>
            </a:r>
            <a:br/>
            <a:br/>
            <a:r>
              <a:t>    ΔY(t₀) = (1/μ) · r · ΔK</a:t>
            </a:r>
            <a:br/>
            <a:br/>
            <a:r>
              <a:t>where μ is capital elasticity, r is interest rate + depreciation, ΔK is capital destroyed. With standard parameter values, output loss is roughly 3× the asset value destroyed.</a:t>
            </a:r>
            <a:br/>
            <a:br/>
            <a:r>
              <a:t>Simplified assumption (Hallegatte 2008): productive asset loss to output loss is approximately 1:1. This is the more conservative and commonly used mapping.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188720"/>
            <a:ext cx="5120640" cy="2926080"/>
          </a:xfrm>
          <a:prstGeom prst="rect">
            <a:avLst/>
          </a:prstGeom>
          <a:solidFill>
            <a:srgbClr val="E8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280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3A5C"/>
                </a:solidFill>
                <a:latin typeface="Calibri"/>
              </a:defRPr>
            </a:pPr>
            <a:r>
              <a:t>Practical Guidance for Users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1737360"/>
            <a:ext cx="45720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Calibri"/>
              </a:rPr>
              <a:t>• Estimate capital destruction by sector from external hazard models, historical data, or damage assessments (e.g., DesInventar, EM-DAT, post-disaster surveys).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Calibri"/>
              </a:rPr>
              <a:t>• Map damaged sectors to GLORIA sector codes (1–120). Agriculture = sectors 1–23; mining = 24–29; electricity = 63; water = 93–96; construction = 107.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Calibri"/>
              </a:rPr>
              <a:t>• Express as percentage output reduction: 25% capital destruction → Value = -0.25 in the Supply constraint sheet.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Calibri"/>
              </a:rPr>
              <a:t>• For floods, consider: physical infrastructure damage + crop losses + transport disruption. For droughts, consider: crop yield losses + hydropower reduction + water-intensive industries.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297680"/>
            <a:ext cx="10881360" cy="182880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3891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3A5C"/>
                </a:solidFill>
                <a:latin typeface="Calibri"/>
              </a:defRPr>
            </a:pPr>
            <a:r>
              <a:t>What MINDSET does with the supply constraint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84632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1. Reads the constraint from the scenario file.</a:t>
            </a:r>
            <a:br/>
            <a:r>
              <a:t>2. Converts each entry to a sector-level output cap:</a:t>
            </a:r>
            <a:br/>
            <a:r>
              <a:t>       q_max = q_base × (1 + Value)</a:t>
            </a:r>
            <a:br/>
            <a:r>
              <a:t>3. Applies the Ghosh inverse (G = (I−B)⁻¹) to propagate</a:t>
            </a:r>
            <a:br/>
            <a:r>
              <a:t>   the supply shock forward through the IO system.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484632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4. Criticality weighting filters non-essential inputs:</a:t>
            </a:r>
            <a:br/>
            <a:r>
              <a:t>   critical (1.0) = full propagation, important (0.5) = 50%,</a:t>
            </a:r>
            <a:br/>
            <a:r>
              <a:t>   non-critical (0.0) = no propagation.</a:t>
            </a:r>
            <a:br/>
            <a:r>
              <a:t>5. Output reduction capped at −90% of baseline (floor).</a:t>
            </a:r>
            <a:br/>
            <a:r>
              <a:t>6. Result: dq_supply_constraint vector (output change by sector).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2636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59595"/>
                </a:solidFill>
                <a:latin typeface="Calibri"/>
              </a:defRPr>
            </a:pPr>
            <a:r>
              <a:t>Sources: Documentation/Capital damages.md (Hallegatte 2008, 2014a); SourceCode/InputOutput.py (lines 475–560: calc_dq_supply_constraint; lines 140–182: build_B_base with criticality)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Inside MINDSET: Model Execution (RunMINDSET.py)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59595"/>
                </a:solidFill>
                <a:latin typeface="Calibri"/>
              </a:defRPr>
            </a:pPr>
            <a:r>
              <a:t>MINDSET Assessment for Bolivia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88720"/>
            <a:ext cx="5303520" cy="146304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8016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3A5C"/>
                </a:solidFill>
                <a:latin typeface="Calibri"/>
              </a:defRPr>
            </a:pPr>
            <a:r>
              <a:t>1. Load base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33333"/>
                </a:solidFill>
                <a:latin typeface="Calibri"/>
              </a:defRPr>
            </a:pPr>
            <a:r>
              <a:t>Loads the GLORIA MRIO database: intermediate transactions (IND_BASE), final demand (HH, Gov, GFCF), value added, employment, and sector criticality ratings. Entry point: exog_vars() in SourceCode/exog_vars.py.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788920"/>
            <a:ext cx="5303520" cy="1463040"/>
          </a:xfrm>
          <a:prstGeom prst="rect">
            <a:avLst/>
          </a:prstGeom>
          <a:solidFill>
            <a:srgbClr val="E8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88036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3A5C"/>
                </a:solidFill>
                <a:latin typeface="Calibri"/>
              </a:defRPr>
            </a:pPr>
            <a:r>
              <a:t>2. Read scenario 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246120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33333"/>
                </a:solidFill>
                <a:latin typeface="Calibri"/>
              </a:defRPr>
            </a:pPr>
            <a:r>
              <a:t>Parses the scenario Excel workbook. Reads supply constraints, final demand changes, investment, price changes, IO coefficient adjustments. Each sheet is optional. Entry point: scenario() in SourceCode/scenario.py.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389120"/>
            <a:ext cx="5303520" cy="1463040"/>
          </a:xfrm>
          <a:prstGeom prst="rect">
            <a:avLst/>
          </a:prstGeom>
          <a:solidFill>
            <a:srgbClr val="FD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48056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3A5C"/>
                </a:solidFill>
                <a:latin typeface="Calibri"/>
              </a:defRPr>
            </a:pPr>
            <a:r>
              <a:t>3. Build Leontief and Ghosh inverses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846320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33333"/>
                </a:solidFill>
                <a:latin typeface="Calibri"/>
              </a:defRPr>
            </a:pPr>
            <a:r>
              <a:t>L = (I−A)⁻¹ captures backward (demand-driven) linkages. G = (I−B)⁻¹ captures forward (supply-driven) linkages, weighted by input criticality (Pichler et al. 2022). Entry point: IO.initialize() in SourceCode/InputOutput.py.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188720"/>
            <a:ext cx="5303520" cy="146304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28016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3A5C"/>
                </a:solidFill>
                <a:latin typeface="Calibri"/>
              </a:defRPr>
            </a:pPr>
            <a:r>
              <a:t>4. Calculate all impact channels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645920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33333"/>
                </a:solidFill>
                <a:latin typeface="Calibri"/>
              </a:defRPr>
            </a:pPr>
            <a:r>
              <a:t>Supply constraint → Ghosh propagation. Investment/demand shocks → Leontief propagation. Price changes → trade and technology substitution. Each channel produces a separate dq (output change) vector.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2788920"/>
            <a:ext cx="5303520" cy="146304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88036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3A5C"/>
                </a:solidFill>
                <a:latin typeface="Calibri"/>
              </a:defRPr>
            </a:pPr>
            <a:r>
              <a:t>5. Iterate until convergence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246120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33333"/>
                </a:solidFill>
                <a:latin typeface="Calibri"/>
              </a:defRPr>
            </a:pPr>
            <a:r>
              <a:t>Output changes affect labor income → household consumption → demand → output. Tax revenue changes affect government spending. Loop repeats until labor compensation (&lt;7%) and tax revenue (&lt;1%) changes stabilize. Source: RunMINDSET.py lines 543–688.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4389120"/>
            <a:ext cx="5303520" cy="1463040"/>
          </a:xfrm>
          <a:prstGeom prst="rect">
            <a:avLst/>
          </a:prstGeom>
          <a:solidFill>
            <a:srgbClr val="E8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448056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3A5C"/>
                </a:solidFill>
                <a:latin typeface="Calibri"/>
              </a:defRPr>
            </a:pPr>
            <a:r>
              <a:t>6. Aggregate and save results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846320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333333"/>
                </a:solidFill>
                <a:latin typeface="Calibri"/>
              </a:defRPr>
            </a:pPr>
            <a:r>
              <a:t>Combines all 12 impact channels into totals. Decomposes output, employment, GDP, demand, household welfare, prices, revenue, and emissions by channel and sector. Saves to FullResults_[scenario].xlsx (8 sheets). Source: SourceCode/results.py.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2636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59595"/>
                </a:solidFill>
                <a:latin typeface="Calibri"/>
              </a:defRPr>
            </a:pPr>
            <a:r>
              <a:t>Sources: RunMINDSET.py (full pipeline); SourceCode/InputOutput.py (L_BASE, G_BASE, supply constraint); SourceCode/exog_vars.py (data loading)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What You Get Back: Outputs and Distributional Detail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59595"/>
                </a:solidFill>
                <a:latin typeface="Calibri"/>
              </a:defRPr>
            </a:pPr>
            <a:r>
              <a:t>MINDSET Assessment for Bolivia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88720"/>
            <a:ext cx="4572000" cy="3657600"/>
          </a:xfrm>
          <a:prstGeom prst="rect">
            <a:avLst/>
          </a:prstGeom>
          <a:solidFill>
            <a:srgbClr val="E8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2801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3A5C"/>
                </a:solidFill>
                <a:latin typeface="Calibri"/>
              </a:defRPr>
            </a:pPr>
            <a:r>
              <a:t>Results workbook (8 sheets)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41148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333333"/>
                </a:solidFill>
                <a:latin typeface="Calibri"/>
              </a:rPr>
              <a:t>• output: </a:t>
            </a:r>
            <a:r>
              <a:rPr sz="1100" b="0">
                <a:solidFill>
                  <a:srgbClr val="333333"/>
                </a:solidFill>
                <a:latin typeface="Calibri"/>
              </a:rPr>
              <a:t>sectoral output changes (dq) by each of 12 impact channels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333333"/>
                </a:solidFill>
                <a:latin typeface="Calibri"/>
              </a:rPr>
              <a:t>• employment: </a:t>
            </a:r>
            <a:r>
              <a:rPr sz="1100" b="0">
                <a:solidFill>
                  <a:srgbClr val="333333"/>
                </a:solidFill>
                <a:latin typeface="Calibri"/>
              </a:rPr>
              <a:t>job changes by sector, decomposed by channel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333333"/>
                </a:solidFill>
                <a:latin typeface="Calibri"/>
              </a:rPr>
              <a:t>• gdp: </a:t>
            </a:r>
            <a:r>
              <a:rPr sz="1100" b="0">
                <a:solidFill>
                  <a:srgbClr val="333333"/>
                </a:solidFill>
                <a:latin typeface="Calibri"/>
              </a:rPr>
              <a:t>national GDP change by channel and region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333333"/>
                </a:solidFill>
                <a:latin typeface="Calibri"/>
              </a:rPr>
              <a:t>• demand: </a:t>
            </a:r>
            <a:r>
              <a:rPr sz="1100" b="0">
                <a:solidFill>
                  <a:srgbClr val="333333"/>
                </a:solidFill>
                <a:latin typeface="Calibri"/>
              </a:rPr>
              <a:t>final demand changes (HH, Gov, GFCF, etc.)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333333"/>
                </a:solidFill>
                <a:latin typeface="Calibri"/>
              </a:rPr>
              <a:t>• household: </a:t>
            </a:r>
            <a:r>
              <a:rPr sz="1100" b="0">
                <a:solidFill>
                  <a:srgbClr val="333333"/>
                </a:solidFill>
                <a:latin typeface="Calibri"/>
              </a:rPr>
              <a:t>consumption changes from price vs. income effects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333333"/>
                </a:solidFill>
                <a:latin typeface="Calibri"/>
              </a:rPr>
              <a:t>• price: </a:t>
            </a:r>
            <a:r>
              <a:rPr sz="1100" b="0">
                <a:solidFill>
                  <a:srgbClr val="333333"/>
                </a:solidFill>
                <a:latin typeface="Calibri"/>
              </a:rPr>
              <a:t>commodity price changes (pre/post trade substitution)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333333"/>
                </a:solidFill>
                <a:latin typeface="Calibri"/>
              </a:rPr>
              <a:t>• revenue: </a:t>
            </a:r>
            <a:r>
              <a:rPr sz="1100" b="0">
                <a:solidFill>
                  <a:srgbClr val="333333"/>
                </a:solidFill>
                <a:latin typeface="Calibri"/>
              </a:rPr>
              <a:t>tax revenue impacts by sector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333333"/>
                </a:solidFill>
                <a:latin typeface="Calibri"/>
              </a:rPr>
              <a:t>• emissions: </a:t>
            </a:r>
            <a:r>
              <a:rPr sz="1100" b="0">
                <a:solidFill>
                  <a:srgbClr val="333333"/>
                </a:solidFill>
                <a:latin typeface="Calibri"/>
              </a:rPr>
              <a:t>CO₂ and pollutant changes by sector</a:t>
            </a:r>
          </a:p>
        </p:txBody>
      </p:sp>
      <p:sp>
        <p:nvSpPr>
          <p:cNvPr id="8" name="Rectangle 7"/>
          <p:cNvSpPr/>
          <p:nvPr/>
        </p:nvSpPr>
        <p:spPr>
          <a:xfrm>
            <a:off x="5394960" y="1188720"/>
            <a:ext cx="6126480" cy="164592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0" y="1280160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3A5C"/>
                </a:solidFill>
                <a:latin typeface="Calibri"/>
              </a:defRPr>
            </a:pPr>
            <a:r>
              <a:t>Employment disaggregation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0" y="1645920"/>
            <a:ext cx="5577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Calibri"/>
              </a:rPr>
              <a:t>• 2 skill levels (low-skill, high-skill) × 2 genders (female, male) = 4 labor categories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Calibri"/>
              </a:rPr>
              <a:t>• Country-specific employment coefficients (jobs per $M output) for each of 120 sectors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Calibri"/>
              </a:rPr>
              <a:t>• Wages tracked separately by skill level and gender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94960" y="3017520"/>
            <a:ext cx="6126480" cy="1828800"/>
          </a:xfrm>
          <a:prstGeom prst="rect">
            <a:avLst/>
          </a:prstGeom>
          <a:solidFill>
            <a:srgbClr val="FD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0" y="3108960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3A5C"/>
                </a:solidFill>
                <a:latin typeface="Calibri"/>
              </a:defRPr>
            </a:pPr>
            <a:r>
              <a:t>Household consumption disaggregation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3474720"/>
            <a:ext cx="5577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Calibri"/>
              </a:rPr>
              <a:t>• 3 income groups (low, middle, high) with differentiated cross-price elasticities (USDA)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Calibri"/>
              </a:rPr>
              <a:t>• 9 consumption categories: food, clothing, housing, furnishing, health, transport, recreation, education, other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Calibri"/>
              </a:rPr>
              <a:t>• Price and income channels modeled separately — shows who bears the cost of commodity price increases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Calibri"/>
              </a:rPr>
              <a:t>• Bolivia classified as Middle-income — middle-income elasticities apply across the country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5029200"/>
            <a:ext cx="10881360" cy="1097280"/>
          </a:xfrm>
          <a:prstGeom prst="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120640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392B"/>
                </a:solidFill>
                <a:latin typeface="Calibri"/>
              </a:defRPr>
            </a:pPr>
            <a:r>
              <a:t>What the distributional analysis does not capture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39496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00">
                <a:solidFill>
                  <a:srgbClr val="333333"/>
                </a:solidFill>
                <a:latin typeface="Calibri"/>
              </a:rPr>
              <a:t>• No microsimulation (no Gini, poverty headcount, or within-country inequality measures)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333333"/>
                </a:solidFill>
                <a:latin typeface="Calibri"/>
              </a:rPr>
              <a:t>• No subnational resolution (cannot distinguish flood-prone lowlands from highlands)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333333"/>
                </a:solidFill>
                <a:latin typeface="Calibri"/>
              </a:rPr>
              <a:t>• No informal economy (GLORIA based on formal national accounts; Bolivia's large informal sector is not captured)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2636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59595"/>
                </a:solidFill>
                <a:latin typeface="Calibri"/>
              </a:defRPr>
            </a:pPr>
            <a:r>
              <a:t>Sources: SourceCode/results.py; README.md; Documentation/MINDSET modules/Impact channels/Household income and price.md; SourceCode/employment.py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Bolivia: Data Availability &amp; Readiness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59595"/>
                </a:solidFill>
                <a:latin typeface="Calibri"/>
              </a:defRPr>
            </a:pPr>
            <a:r>
              <a:t>MINDSET Assessment for Bolivia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34440"/>
            <a:ext cx="914400" cy="33832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6187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Available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1234440"/>
            <a:ext cx="27432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Calibri"/>
              </a:defRPr>
            </a:pPr>
            <a:r>
              <a:t>GLORIA MRIO (v57, 2019)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1234440"/>
            <a:ext cx="71323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Bolivia is 1 of 164 countries. Full IO table, bilateral trade, final demand, value added.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691640"/>
            <a:ext cx="914400" cy="33832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71907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Available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1691640"/>
            <a:ext cx="27432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Calibri"/>
              </a:defRPr>
            </a:pPr>
            <a:r>
              <a:t>Employment coefficients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1691640"/>
            <a:ext cx="71323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Country-specific (Bolivia) employment-to-output ratios for all 120 sectors.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148840"/>
            <a:ext cx="914400" cy="33832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17627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Available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2148840"/>
            <a:ext cx="27432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Calibri"/>
              </a:defRPr>
            </a:pPr>
            <a:r>
              <a:t>Labor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2148840"/>
            <a:ext cx="71323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Disaggregated by skill (low/high) and gender (female/male) — volumes and wages.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2606040"/>
            <a:ext cx="914400" cy="33832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63347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Available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2606040"/>
            <a:ext cx="27432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Calibri"/>
              </a:defRPr>
            </a:pPr>
            <a:r>
              <a:t>Household income class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2606040"/>
            <a:ext cx="71323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Bolivia classified as Middle-income. USDA cross-price elasticities for middle-income group apply.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3063240"/>
            <a:ext cx="914400" cy="33832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09067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Available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91640" y="3063240"/>
            <a:ext cx="27432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Calibri"/>
              </a:defRPr>
            </a:pPr>
            <a:r>
              <a:t>Energy own-price elasticities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3063240"/>
            <a:ext cx="71323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BOL-specific values in OwnPrices.xlsx.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3520440"/>
            <a:ext cx="914400" cy="33832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54787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Generic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91640" y="3520440"/>
            <a:ext cx="27432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Calibri"/>
              </a:defRPr>
            </a:pPr>
            <a:r>
              <a:t>Energy cross-price elasticities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34840" y="3520440"/>
            <a:ext cx="71323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Uses Rest-of-World estimates (EnergyElas_ROW.xlsx), not Bolivia-specific.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3977640"/>
            <a:ext cx="914400" cy="33832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00507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Generic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91640" y="3977640"/>
            <a:ext cx="27432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Calibri"/>
              </a:defRPr>
            </a:pPr>
            <a:r>
              <a:t>Supply criticality matrix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34840" y="3977640"/>
            <a:ext cx="71323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Global criticality ratings (Pichler et al. 2022) available, not Bolivia-customized.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4434840"/>
            <a:ext cx="914400" cy="33832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446227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Available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91640" y="4434840"/>
            <a:ext cx="27432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Calibri"/>
              </a:defRPr>
            </a:pPr>
            <a:r>
              <a:t>Scenario files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34840" y="4434840"/>
            <a:ext cx="71323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67 Bolivia-specific strategy scenario files already exist (Strategy_*_BOL.xlsx) as references.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4892040"/>
            <a:ext cx="914400" cy="33832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491947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Available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691640" y="4892040"/>
            <a:ext cx="27432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Calibri"/>
              </a:defRPr>
            </a:pPr>
            <a:r>
              <a:t>Investment converter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34840" y="4892040"/>
            <a:ext cx="71323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Defines how investment spending maps to sector demand. Available for all GLORIA countries.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" y="5349240"/>
            <a:ext cx="914400" cy="33832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" y="537667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Generic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691640" y="5349240"/>
            <a:ext cx="27432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Calibri"/>
              </a:defRPr>
            </a:pPr>
            <a:r>
              <a:t>Trade elasticities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34840" y="5349240"/>
            <a:ext cx="71323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Default trade substitution elasticities (TradeElas_default.xlsx). Not Bolivia-specific.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" y="62636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59595"/>
                </a:solidFill>
                <a:latin typeface="Calibri"/>
              </a:defRPr>
            </a:pPr>
            <a:r>
              <a:t>Sources: GLORIA_template/Country_groupings/; GLORIA_template/Employment/Empl_coefficient.csv; GLORIA_db/v57/2019/; GLORIA_template/Elasticities/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Task #2: Energy Shocks — What MINDSET Can and Cannot 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59595"/>
                </a:solidFill>
                <a:latin typeface="Calibri"/>
              </a:defRPr>
            </a:pPr>
            <a:r>
              <a:t>MINDSET Assessment for Bolivia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5303520" cy="4846320"/>
          </a:xfrm>
          <a:prstGeom prst="rect">
            <a:avLst/>
          </a:prstGeom>
          <a:solidFill>
            <a:srgbClr val="E8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7D32"/>
                </a:solidFill>
                <a:latin typeface="Calibri"/>
              </a:defRPr>
            </a:pPr>
            <a:r>
              <a:t>What MINDSET can contribute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333333"/>
                </a:solidFill>
                <a:latin typeface="Calibri"/>
              </a:rPr>
              <a:t>• Supply constraint on gas extraction (GLORIA sector 27) — propagates forward through all gas-dependent sectors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333333"/>
                </a:solidFill>
                <a:latin typeface="Calibri"/>
              </a:rPr>
              <a:t>• Supply constraint on electricity (sector 63) — captures economy-wide impact of reduced power supply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333333"/>
                </a:solidFill>
                <a:latin typeface="Calibri"/>
              </a:rPr>
              <a:t>• Interfuel substitution — energy cross-price elasticities model shifts between coal, oil, gas, electricity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333333"/>
                </a:solidFill>
                <a:latin typeface="Calibri"/>
              </a:rPr>
              <a:t>• Price shock transmission — energy price increases propagate through all 120 sectors via IO linkages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333333"/>
                </a:solidFill>
                <a:latin typeface="Calibri"/>
              </a:rPr>
              <a:t>• Macro outputs — GDP, employment, household welfare effects from externally defined energy shock magnitudes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333333"/>
                </a:solidFill>
                <a:latin typeface="Calibri"/>
              </a:rPr>
              <a:t>• Energy sectors classified as essential — household/government consumption prioritized during rationing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280160"/>
            <a:ext cx="5303520" cy="4846320"/>
          </a:xfrm>
          <a:prstGeom prst="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0392B"/>
                </a:solidFill>
                <a:latin typeface="Calibri"/>
              </a:defRPr>
            </a:pPr>
            <a:r>
              <a:t>Outside MINDSET’s scope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92024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333333"/>
                </a:solidFill>
                <a:latin typeface="Calibri"/>
              </a:rPr>
              <a:t>• Resource depletion dynamics — no reserve curves, extraction cost functions, or exhaustion modeling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333333"/>
                </a:solidFill>
                <a:latin typeface="Calibri"/>
              </a:rPr>
              <a:t>• Hydropower variability — no hydrological modeling, reservoir dynamics, or climate-water-energy nexus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333333"/>
                </a:solidFill>
                <a:latin typeface="Calibri"/>
              </a:rPr>
              <a:t>• Energy system optimization — no generation capacity planning, least-cost expansion, or technology choice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333333"/>
                </a:solidFill>
                <a:latin typeface="Calibri"/>
              </a:rPr>
              <a:t>• Low-carbon pathway investment — no learning curves, renewable cost declines, or structural transformation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333333"/>
                </a:solidFill>
                <a:latin typeface="Calibri"/>
              </a:rPr>
              <a:t>• Technology-level electricity disaggregation — sector 63 aggregates all generation types (hydro, thermal, solar, wind)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333333"/>
                </a:solidFill>
                <a:latin typeface="Calibri"/>
              </a:rPr>
              <a:t>• Recommended: pair with a dedicated energy system model (TIMES, OSeMOSYS, MESSAGE) for full Task #2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2636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59595"/>
                </a:solidFill>
                <a:latin typeface="Calibri"/>
              </a:defRPr>
            </a:pPr>
            <a:r>
              <a:t>Sources: Documentation/MINDSET modules/Impact channels/Technology substitution.md; Documentation/Supply constraint.md; SourceCode/ener_elas.py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Key Limitations &amp; Caveats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59595"/>
                </a:solidFill>
                <a:latin typeface="Calibri"/>
              </a:defRPr>
            </a:pPr>
            <a:r>
              <a:t>MINDSET Assessment for Bolivia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3A5C"/>
                </a:solidFill>
                <a:latin typeface="Calibri"/>
              </a:defRPr>
            </a:pPr>
            <a:r>
              <a:t>General Model Limitations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333333"/>
                </a:solidFill>
                <a:latin typeface="Calibri"/>
              </a:rPr>
              <a:t>• No physical hazard modeling — all damage/shock magnitudes must be externally provided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33333"/>
                </a:solidFill>
                <a:latin typeface="Calibri"/>
              </a:rPr>
              <a:t>• National aggregation only — no subnational spatial resolution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33333"/>
                </a:solidFill>
                <a:latin typeface="Calibri"/>
              </a:rPr>
              <a:t>• Fixed IO coefficients — A and B matrices calibrated to 2019, not recalculated during simulation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33333"/>
                </a:solidFill>
                <a:latin typeface="Calibri"/>
              </a:rPr>
              <a:t>• No inventories modeled — sectors cannot buffer shocks with stored inputs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33333"/>
                </a:solidFill>
                <a:latin typeface="Calibri"/>
              </a:rPr>
              <a:t>• No firm heterogeneity within sectors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33333"/>
                </a:solidFill>
                <a:latin typeface="Calibri"/>
              </a:rPr>
              <a:t>• Not a CGE — intentional for short-run analysis, limits long-run applicability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33333"/>
                </a:solidFill>
                <a:latin typeface="Calibri"/>
              </a:rPr>
              <a:t>• Dynamic module is a prototype — variable source tables incomplete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3A5C"/>
                </a:solidFill>
                <a:latin typeface="Calibri"/>
              </a:defRPr>
            </a:pPr>
            <a:r>
              <a:t>Bolivia-Specific Caveats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73736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333333"/>
                </a:solidFill>
                <a:latin typeface="Calibri"/>
              </a:rPr>
              <a:t>• Energy cross-price elasticities are generic (Rest-of-World), not Bolivia-specific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33333"/>
                </a:solidFill>
                <a:latin typeface="Calibri"/>
              </a:rPr>
              <a:t>• Household elasticities use USDA data — quality for Bolivia not independently verified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33333"/>
                </a:solidFill>
                <a:latin typeface="Calibri"/>
              </a:rPr>
              <a:t>• Large informal economy not captured in MRIO-based national accounts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33333"/>
                </a:solidFill>
                <a:latin typeface="Calibri"/>
              </a:rPr>
              <a:t>• Agricultural vulnerability to ENSO requires external mapping (which crops are drought/flood sensitive)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33333"/>
                </a:solidFill>
                <a:latin typeface="Calibri"/>
              </a:rPr>
              <a:t>• Employment coefficients from 2019 — may not reflect recent structural shifts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33333"/>
                </a:solidFill>
                <a:latin typeface="Calibri"/>
              </a:rPr>
              <a:t>• Country-level results — cannot distinguish between Altiplano, valleys, and lowlands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2636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59595"/>
                </a:solidFill>
                <a:latin typeface="Calibri"/>
              </a:defRPr>
            </a:pPr>
            <a:r>
              <a:t>Sources: Documentation/Supply constraint.md; Documentation/Capital damages.md; GLORIA_template/Country_groupings/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Summary: Capability vs. Need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59595"/>
                </a:solidFill>
                <a:latin typeface="Calibri"/>
              </a:defRPr>
            </a:pPr>
            <a:r>
              <a:t>MINDSET Assessment for Bolivia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3840480" cy="4114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Analysis Need</a:t>
            </a:r>
          </a:p>
        </p:txBody>
      </p:sp>
      <p:sp>
        <p:nvSpPr>
          <p:cNvPr id="7" name="Rectangle 6"/>
          <p:cNvSpPr/>
          <p:nvPr/>
        </p:nvSpPr>
        <p:spPr>
          <a:xfrm>
            <a:off x="4480560" y="1280160"/>
            <a:ext cx="3840480" cy="4114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32588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MINDSET Capability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8321040" y="1280160"/>
            <a:ext cx="3108960" cy="4114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0" y="132588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Gap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1691640"/>
            <a:ext cx="3840480" cy="4114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73736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ENSO physical hazard characterization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691640"/>
            <a:ext cx="3840480" cy="4114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173736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None — requires external climate/hydrology model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21040" y="1691640"/>
            <a:ext cx="3108960" cy="4114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173736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0392B"/>
                </a:solidFill>
                <a:latin typeface="Calibri"/>
              </a:defRPr>
            </a:pPr>
            <a:r>
              <a:t>Full gap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2103120"/>
            <a:ext cx="384048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21488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Sector-level damage estimates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2103120"/>
            <a:ext cx="384048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0" y="21488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None — requires external damage assessment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21040" y="2103120"/>
            <a:ext cx="310896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0" y="214884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0392B"/>
                </a:solidFill>
                <a:latin typeface="Calibri"/>
              </a:defRPr>
            </a:pPr>
            <a:r>
              <a:t>Full gap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2514600"/>
            <a:ext cx="3840480" cy="4114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25603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Macroeconomic impact propagation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80560" y="2514600"/>
            <a:ext cx="3840480" cy="4114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0" y="25603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E7D32"/>
                </a:solidFill>
                <a:latin typeface="Calibri"/>
              </a:defRPr>
            </a:pPr>
            <a:r>
              <a:t>Full support (GDP, output, prices, all 12 channels)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321040" y="2514600"/>
            <a:ext cx="3108960" cy="4114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0" y="256032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None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2926080"/>
            <a:ext cx="384048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297180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Employment by sector / skill / gender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480560" y="2926080"/>
            <a:ext cx="384048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0" y="297180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E7D32"/>
                </a:solidFill>
                <a:latin typeface="Calibri"/>
              </a:defRPr>
            </a:pPr>
            <a:r>
              <a:t>Full support (4 labor categories × 120 sectors)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321040" y="2926080"/>
            <a:ext cx="310896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12480" y="297180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None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3337560"/>
            <a:ext cx="3840480" cy="4114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338328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Household distributional effects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480560" y="3337560"/>
            <a:ext cx="3840480" cy="4114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0" y="338328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Partial — 3 income groups, elasticity-based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321040" y="3337560"/>
            <a:ext cx="3108960" cy="4114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12480" y="338328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No inequality / poverty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" y="3749040"/>
            <a:ext cx="384048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1520" y="379476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Subnational spatial impacts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480560" y="3749040"/>
            <a:ext cx="384048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0" y="379476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None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321040" y="3749040"/>
            <a:ext cx="310896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412480" y="379476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0392B"/>
                </a:solidFill>
                <a:latin typeface="Calibri"/>
              </a:defRPr>
            </a:pPr>
            <a:r>
              <a:t>Full gap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0080" y="4160520"/>
            <a:ext cx="3840480" cy="4114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31520" y="42062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Short / medium-term time horizon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480560" y="4160520"/>
            <a:ext cx="3840480" cy="4114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572000" y="42062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Supported (static + prototype dynamic)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321040" y="4160520"/>
            <a:ext cx="3108960" cy="4114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412480" y="420624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Dynamic is prototype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40080" y="4572000"/>
            <a:ext cx="384048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31520" y="46177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Gas reserve depletion dynamics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480560" y="4572000"/>
            <a:ext cx="384048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572000" y="46177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None — needs resource economics model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321040" y="4572000"/>
            <a:ext cx="310896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412480" y="461772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0392B"/>
                </a:solidFill>
                <a:latin typeface="Calibri"/>
              </a:defRPr>
            </a:pPr>
            <a:r>
              <a:t>Full gap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40080" y="4983480"/>
            <a:ext cx="3840480" cy="4114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31520" y="502920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Hydropower variability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480560" y="4983480"/>
            <a:ext cx="3840480" cy="4114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572000" y="502920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None — needs energy/hydrology model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321040" y="4983480"/>
            <a:ext cx="3108960" cy="4114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412480" y="502920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0392B"/>
                </a:solidFill>
                <a:latin typeface="Calibri"/>
              </a:defRPr>
            </a:pPr>
            <a:r>
              <a:t>Full gap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40080" y="5394960"/>
            <a:ext cx="384048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31520" y="544068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Energy system optimization / pathways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480560" y="5394960"/>
            <a:ext cx="384048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572000" y="544068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None — needs TIMES / OSeMOSYS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321040" y="5394960"/>
            <a:ext cx="310896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412480" y="544068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0392B"/>
                </a:solidFill>
                <a:latin typeface="Calibri"/>
              </a:defRPr>
            </a:pPr>
            <a:r>
              <a:t>Full gap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40080" y="5806440"/>
            <a:ext cx="3840480" cy="4114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31520" y="585216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Energy shock macro propagation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480560" y="5806440"/>
            <a:ext cx="3840480" cy="4114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572000" y="585216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E7D32"/>
                </a:solidFill>
                <a:latin typeface="Calibri"/>
              </a:defRPr>
            </a:pPr>
            <a:r>
              <a:t>Full support (supply constraint + price channels)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321040" y="5806440"/>
            <a:ext cx="3108960" cy="4114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412480" y="585216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None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